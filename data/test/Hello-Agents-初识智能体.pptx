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4" autoAdjust="0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54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436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9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137160" cy="2286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Hello Agents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初识智能体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Datawhale 开源教程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9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什么是智能体？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</a:rPr>
              <a:t>智能体是能够通过 </a:t>
            </a:r>
            <a:r>
              <a:rPr lang="en-US" sz="1800" b="1" dirty="0">
                <a:solidFill>
                  <a:srgbClr val="028090"/>
                </a:solidFill>
              </a:rPr>
              <a:t>传感器（Sensors）</a:t>
            </a:r>
            <a:r>
              <a:rPr lang="en-US" sz="1800" dirty="0">
                <a:solidFill>
                  <a:srgbClr val="2C3E50"/>
                </a:solidFill>
              </a:rPr>
              <a:t> 感知环境，并</a:t>
            </a:r>
            <a:r>
              <a:rPr lang="en-US" sz="1800" b="1" dirty="0">
                <a:solidFill>
                  <a:srgbClr val="028090"/>
                </a:solidFill>
              </a:rPr>
              <a:t>自主</a:t>
            </a:r>
            <a:r>
              <a:rPr lang="en-US" sz="1800" dirty="0">
                <a:solidFill>
                  <a:srgbClr val="2C3E50"/>
                </a:solidFill>
              </a:rPr>
              <a:t>地通过 </a:t>
            </a:r>
            <a:r>
              <a:rPr lang="en-US" sz="1800" b="1" dirty="0">
                <a:solidFill>
                  <a:srgbClr val="028090"/>
                </a:solidFill>
              </a:rPr>
              <a:t>执行器（Actuators）</a:t>
            </a:r>
            <a:r>
              <a:rPr lang="en-US" sz="1800" dirty="0">
                <a:solidFill>
                  <a:srgbClr val="2C3E50"/>
                </a:solidFill>
              </a:rPr>
              <a:t> 采取行动以达成特定目标的实体。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4965"/>
                </a:solidFill>
              </a:rPr>
              <a:t>反射智能体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3246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</a:rPr>
              <a:t>Simple Reflex Agent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4965"/>
                </a:solidFill>
              </a:rPr>
              <a:t>基于模型的反射智能体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886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</a:rPr>
              <a:t>Model-Based Reflex Agent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4965"/>
                </a:solidFill>
              </a:rPr>
              <a:t>基于目标的智能体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526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</a:rPr>
              <a:t>Goal-Based 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29260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4965"/>
                </a:solidFill>
              </a:rPr>
              <a:t>基于效用的智能体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77840" y="3246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</a:rPr>
              <a:t>Utility-Based Agent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35661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4965"/>
                </a:solidFill>
              </a:rPr>
              <a:t>学习型智能体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3886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</a:rPr>
              <a:t>Learning Agent (RL)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9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智能体的分类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965"/>
                </a:solidFill>
              </a:rPr>
              <a:t>基于内部决策架构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</a:rPr>
              <a:t>反射式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</a:rPr>
              <a:t>基于模型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</a:rPr>
              <a:t>基于目标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</a:rPr>
              <a:t>基于效用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</a:rPr>
              <a:t>学习型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188720"/>
            <a:ext cx="2560320" cy="137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463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965"/>
                </a:solidFill>
              </a:rPr>
              <a:t>基于时间与反应性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74720" y="21945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370332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</a:rPr>
              <a:t>反应式智能体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0" y="26517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</a:rPr>
              <a:t>规划式智能体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74720" y="31089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370332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</a:rPr>
              <a:t>混合式智能体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1188720"/>
            <a:ext cx="256032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463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965"/>
                </a:solidFill>
              </a:rPr>
              <a:t>基于知识表示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7920" y="219456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</a:rPr>
              <a:t>符号智能体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17920" y="265176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</a:rPr>
              <a:t>神经智能体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310896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</a:rPr>
              <a:t>混合表示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9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任务环境：PEAS 模型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09728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73736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4965"/>
                </a:solidFill>
              </a:rPr>
              <a:t>性能度量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3736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</a:rPr>
              <a:t>Performance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</a:rPr>
              <a:t>衡量智能体表现的标准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280160"/>
            <a:ext cx="1097280" cy="1371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5544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E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85216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4965"/>
                </a:solidFill>
              </a:rPr>
              <a:t>环境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5216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</a:rPr>
              <a:t>Environment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</a:rPr>
              <a:t>智能体所处的外部世界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1097280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832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A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73736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4965"/>
                </a:solidFill>
              </a:rPr>
              <a:t>执行器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3736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</a:rPr>
              <a:t>Actuators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3886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</a:rPr>
              <a:t>智能体采取行动的工具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3108960"/>
            <a:ext cx="1097280" cy="13716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33832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S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585216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4965"/>
                </a:solidFill>
              </a:rPr>
              <a:t>传感器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85216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</a:rPr>
              <a:t>Sensors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0" y="3886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</a:rPr>
              <a:t>智能体感知环境的接口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9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智能体循环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926080" y="1920240"/>
            <a:ext cx="164592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  <a:headEnd type="none"/>
            <a:tailEnd type="arrow"/>
          </a:ln>
        </p:spPr>
      </p:sp>
      <p:sp>
        <p:nvSpPr>
          <p:cNvPr id="4" name="Shape 2"/>
          <p:cNvSpPr/>
          <p:nvPr/>
        </p:nvSpPr>
        <p:spPr>
          <a:xfrm>
            <a:off x="4572000" y="3749040"/>
            <a:ext cx="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  <a:headEnd type="none"/>
            <a:tailEnd type="arrow"/>
          </a:ln>
        </p:spPr>
      </p:sp>
      <p:sp>
        <p:nvSpPr>
          <p:cNvPr id="5" name="Shape 3"/>
          <p:cNvSpPr/>
          <p:nvPr/>
        </p:nvSpPr>
        <p:spPr>
          <a:xfrm>
            <a:off x="5943600" y="2560320"/>
            <a:ext cx="0" cy="45720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  <a:headEnd type="none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1828800" y="3931920"/>
            <a:ext cx="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731520" y="1371600"/>
            <a:ext cx="3474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371600"/>
            <a:ext cx="91440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1600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4965"/>
                </a:solidFill>
              </a:rPr>
              <a:t>感知 (Perception)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</a:rPr>
              <a:t>通过传感器接收环境输入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3474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371600"/>
            <a:ext cx="91440" cy="1188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5074920" y="16002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66928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4965"/>
                </a:solidFill>
              </a:rPr>
              <a:t>思考 (Thought)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</a:rPr>
              <a:t>规划与工具选择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3200400"/>
            <a:ext cx="3474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200400"/>
            <a:ext cx="91440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5074920" y="34290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0" y="3383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4965"/>
                </a:solidFill>
              </a:rPr>
              <a:t>行动 (Action)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</a:rPr>
              <a:t>通过执行器采取行动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3200400"/>
            <a:ext cx="3474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200400"/>
            <a:ext cx="91440" cy="11887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27" name="Shape 25"/>
          <p:cNvSpPr/>
          <p:nvPr/>
        </p:nvSpPr>
        <p:spPr>
          <a:xfrm>
            <a:off x="960120" y="3429000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54480" y="3383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4965"/>
                </a:solidFill>
              </a:rPr>
              <a:t>观察 (Observation)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5448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</a:rPr>
              <a:t>环境状态变化反馈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9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提示工程技巧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4965"/>
                </a:solidFill>
              </a:rPr>
              <a:t>模型采样参数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8090"/>
                </a:solidFill>
              </a:rPr>
              <a:t>Temperature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</a:rPr>
              <a:t>控制随机性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920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0-2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8090"/>
                </a:solidFill>
              </a:rPr>
              <a:t>Top-k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</a:rPr>
              <a:t>候选集截断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动态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8090"/>
                </a:solidFill>
              </a:rPr>
              <a:t>Top-p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</a:rPr>
              <a:t>核采样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0-1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4965"/>
                </a:solidFill>
              </a:rPr>
              <a:t>提示技巧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37760" y="19659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920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4965"/>
                </a:solidFill>
              </a:rPr>
              <a:t>零样本提示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66360" y="2194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直接提问，不提供示例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6060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2560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4965"/>
                </a:solidFill>
              </a:rPr>
              <a:t>少样本提示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2834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提供少量示例引导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2461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4965"/>
                </a:solidFill>
              </a:rPr>
              <a:t>角色扮演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66360" y="3474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赋予模型特定角色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8862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3840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4965"/>
                </a:solidFill>
              </a:rPr>
              <a:t>思维链 (CoT)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4114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引导模型逐步思考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9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缩放法则与模型局限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缩放法则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B8D4E3"/>
                </a:solidFill>
              </a:rPr>
              <a:t>Scaling Laws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模型性能与以下因素呈幂律关系：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00584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51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参数量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37360" y="2651760"/>
            <a:ext cx="100584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2651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数据量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2651760"/>
            <a:ext cx="100584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2651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计算量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持续按比例增加这三个要素，模型性能可预测地、平滑地提升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4965"/>
                </a:solidFill>
              </a:rPr>
              <a:t>模型幻觉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937760" y="2011680"/>
            <a:ext cx="73152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4965"/>
                </a:solidFill>
              </a:rPr>
              <a:t>事实性幻觉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2331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</a:rPr>
              <a:t>生成与事实不符的信息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2743200"/>
            <a:ext cx="73152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4965"/>
                </a:solidFill>
              </a:rPr>
              <a:t>忠实性幻觉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3063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</a:rPr>
              <a:t>未能忠实反映源文本含义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3474720"/>
            <a:ext cx="73152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3474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4965"/>
                </a:solidFill>
              </a:rPr>
              <a:t>内在幻觉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3794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</a:rPr>
              <a:t>与输入信息直接矛盾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原因：模型过度自信地'编造'信息，如温度过高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9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范式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4748B"/>
                </a:solidFill>
              </a:rPr>
              <a:t>Reasoning + Acting 的协同循环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560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37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Thought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8D4E3"/>
                </a:solidFill>
              </a:rPr>
              <a:t>思考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分析情况、分解任务、制定计划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2743200"/>
            <a:ext cx="18288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3291840" y="1463040"/>
            <a:ext cx="2651760" cy="2560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737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Action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8D4E3"/>
                </a:solidFill>
              </a:rPr>
              <a:t>行动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调用外部工具执行具体动作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2743200"/>
            <a:ext cx="18288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6126480" y="1463040"/>
            <a:ext cx="2651760" cy="2560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737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Observation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8D4E3"/>
                </a:solidFill>
              </a:rPr>
              <a:t>观察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获取工具返回的结果反馈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965"/>
                </a:solidFill>
              </a:rPr>
              <a:t>推理使得行动更具目的性，而行动则为推理提供了事实依据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9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Plan-and-Solve &amp; Reflection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8090"/>
                </a:solidFill>
              </a:rPr>
              <a:t>Plan-and-Solve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规划与执行解耦的两阶段方法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4965"/>
                </a:solidFill>
              </a:rPr>
              <a:t>规划阶段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</a:rPr>
              <a:t>将问题分解，制定清晰的分步骤计划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4965"/>
                </a:solidFill>
              </a:rPr>
              <a:t>执行阶段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429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</a:rPr>
              <a:t>严格按照计划中的步骤逐一执行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A896"/>
                </a:solidFill>
              </a:rPr>
              <a:t>Reflection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377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事后自我校正循环机制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2194560"/>
            <a:ext cx="73152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2194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4965"/>
                </a:solidFill>
              </a:rPr>
              <a:t>执行 (Execution)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生成初步解决方案（初稿）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926080"/>
            <a:ext cx="73152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4965"/>
                </a:solidFill>
              </a:rPr>
              <a:t>反思 (Reflection)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评审员评估：事实性、逻辑性、效率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657600"/>
            <a:ext cx="73152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4965"/>
                </a:solidFill>
              </a:rPr>
              <a:t>优化 (Refinement)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3977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根据反馈修正，生成修订稿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9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记忆系统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</a:rPr>
              <a:t>参考认知科学记忆模型的工作流程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54480" y="2286000"/>
            <a:ext cx="5486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arrow"/>
          </a:ln>
        </p:spPr>
      </p:sp>
      <p:sp>
        <p:nvSpPr>
          <p:cNvPr id="5" name="Shape 3"/>
          <p:cNvSpPr/>
          <p:nvPr/>
        </p:nvSpPr>
        <p:spPr>
          <a:xfrm>
            <a:off x="2926080" y="2286000"/>
            <a:ext cx="5486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4297680" y="2286000"/>
            <a:ext cx="5486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5669280" y="2286000"/>
            <a:ext cx="5486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1097280" cy="10972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编码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D4E3"/>
                </a:solidFill>
              </a:rPr>
              <a:t>Encoding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1089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将感知信息转换为可存储形式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1828800"/>
            <a:ext cx="1097280" cy="10972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057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存储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D4E3"/>
                </a:solidFill>
              </a:rPr>
              <a:t>Storage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31089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将编码信息保存在记忆系统中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828800"/>
            <a:ext cx="1097280" cy="10972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2057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检索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D4E3"/>
                </a:solidFill>
              </a:rPr>
              <a:t>Retrieval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08960" y="31089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根据需要从记忆中提取信息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828800"/>
            <a:ext cx="1097280" cy="10972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2057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整合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D4E3"/>
                </a:solidFill>
              </a:rPr>
              <a:t>Consolidation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31089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将短期记忆转化为长期记忆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1828800"/>
            <a:ext cx="1097280" cy="10972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2057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遗忘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D4E3"/>
                </a:solidFill>
              </a:rPr>
              <a:t>Forgetting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31089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删除不重要或过时的信息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4965"/>
                </a:solidFill>
              </a:rPr>
              <a:t>记忆系统使智能体能够积累经验、学习知识，并在后续任务中利用历史信息做出更好的决策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9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0"/>
            <a:ext cx="137160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感谢观看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Agents - 开启智能体学习之旅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8D4E3"/>
                </a:solidFill>
              </a:rPr>
              <a:t>来源：Datawhale China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</Words>
  <Application>Microsoft Office PowerPoint</Application>
  <PresentationFormat>全屏显示(16:9)</PresentationFormat>
  <Paragraphs>162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Agents - 初识智能体</dc:title>
  <dc:subject>PptxGenJS Presentation</dc:subject>
  <dc:creator>AI Assistant</dc:creator>
  <cp:lastModifiedBy>yinhui leng</cp:lastModifiedBy>
  <cp:revision>2</cp:revision>
  <dcterms:created xsi:type="dcterms:W3CDTF">2026-02-09T16:01:21Z</dcterms:created>
  <dcterms:modified xsi:type="dcterms:W3CDTF">2026-02-09T16:10:32Z</dcterms:modified>
</cp:coreProperties>
</file>